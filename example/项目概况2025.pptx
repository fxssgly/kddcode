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8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51"/>
    <p:restoredTop sz="50000" autoAdjust="0"/>
  </p:normalViewPr>
  <p:slideViewPr>
    <p:cSldViewPr snapToGrid="0" snapToObjects="1">
      <p:cViewPr varScale="1">
        <p:scale>
          <a:sx n="57" d="100"/>
          <a:sy n="57" d="100"/>
        </p:scale>
        <p:origin x="160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BE8C8-1F96-4DA2-8DF1-B00BB93B9D85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5479F-ED04-4006-92C5-08B5FBAAF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84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5479F-ED04-4006-92C5-08B5FBAAF0B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97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5479F-ED04-4006-92C5-08B5FBAAF0B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574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5479F-ED04-4006-92C5-08B5FBAAF0B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85479F-ED04-4006-92C5-08B5FBAAF0B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01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20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59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53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384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61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848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445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09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982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674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93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E33D2-8EFB-2849-B909-E6C6F7EEFCBD}" type="datetimeFigureOut">
              <a:rPr kumimoji="1" lang="zh-CN" altLang="en-US" smtClean="0"/>
              <a:t>2025/6/16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84377-EBA4-AC4D-BA07-F11BD96073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56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laoluoits/p/7265983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nblogs.com/engeng/articles/5976292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xixinhua/p/10265426.html" TargetMode="External"/><Relationship Id="rId2" Type="http://schemas.openxmlformats.org/officeDocument/2006/relationships/hyperlink" Target="https://blog.csdn.net/Oriental_/article/details/10475339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n.vuejs.org/v2/guide/" TargetMode="External"/><Relationship Id="rId2" Type="http://schemas.openxmlformats.org/officeDocument/2006/relationships/hyperlink" Target="https://ant.design/docs/spec/visual-c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www.runoob.com/vue2/vue-tutorial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hyperlink" Target="https://www.runoob.com/vue2/vue-directory-structur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nblogs.com/beyrl-blog/p/8625145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nt.design/docs/spec/visual-cn" TargetMode="External"/><Relationship Id="rId2" Type="http://schemas.openxmlformats.org/officeDocument/2006/relationships/hyperlink" Target="https://blog.csdn.net/Oriental_/article/details/10475339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unoob.com/vue2/vue-tutorial.html" TargetMode="External"/><Relationship Id="rId4" Type="http://schemas.openxmlformats.org/officeDocument/2006/relationships/hyperlink" Target="https://cn.vuejs.org/v2/guide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cui-cui/p/11537772.html" TargetMode="External"/><Relationship Id="rId2" Type="http://schemas.openxmlformats.org/officeDocument/2006/relationships/hyperlink" Target="https://blog.csdn.net/mao834099514/article/details/7913848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unoob.com/vue2/vue-directory-structure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wei18791957243/article/details/11821058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数据挖掘与分析综合实验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俞雷</a:t>
            </a:r>
          </a:p>
          <a:p>
            <a:r>
              <a:rPr kumimoji="1" lang="zh-CN" altLang="en-US" dirty="0"/>
              <a:t>电院</a:t>
            </a:r>
            <a:r>
              <a:rPr kumimoji="1" lang="en-US" altLang="zh-CN" dirty="0"/>
              <a:t>7909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378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数据分析的架构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B/S</a:t>
            </a:r>
            <a:r>
              <a:rPr kumimoji="1" lang="zh-CN" altLang="en-US" dirty="0"/>
              <a:t>架构   </a:t>
            </a:r>
            <a:r>
              <a:rPr kumimoji="1" lang="en-US" altLang="zh-CN" dirty="0">
                <a:solidFill>
                  <a:schemeClr val="accent5"/>
                </a:solidFill>
              </a:rPr>
              <a:t>VS</a:t>
            </a:r>
            <a:r>
              <a:rPr kumimoji="1" lang="zh-CN" altLang="en-US" dirty="0"/>
              <a:t>  </a:t>
            </a:r>
            <a:r>
              <a:rPr kumimoji="1" lang="en-US" altLang="zh-CN" dirty="0"/>
              <a:t>C/S</a:t>
            </a:r>
            <a:r>
              <a:rPr kumimoji="1" lang="zh-CN" altLang="en-US" dirty="0"/>
              <a:t>架构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115" y="2701471"/>
            <a:ext cx="5208380" cy="3111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410" y="2701471"/>
            <a:ext cx="4991036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1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1.1</a:t>
            </a:r>
            <a:r>
              <a:rPr kumimoji="1" lang="zh-CN" altLang="en-US" dirty="0"/>
              <a:t> </a:t>
            </a:r>
            <a:r>
              <a:rPr kumimoji="1" lang="en-US" altLang="zh-CN" dirty="0"/>
              <a:t>B/S</a:t>
            </a:r>
            <a:r>
              <a:rPr kumimoji="1" lang="zh-CN" altLang="en-US" dirty="0"/>
              <a:t>结构特点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b="1" dirty="0"/>
              <a:t>B/S</a:t>
            </a:r>
            <a:r>
              <a:rPr lang="zh-CN" altLang="en-US" b="1" dirty="0"/>
              <a:t>架构的优缺点：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*优点：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因为</a:t>
            </a:r>
            <a:r>
              <a:rPr lang="en-US" altLang="zh-CN" dirty="0"/>
              <a:t>B/S</a:t>
            </a:r>
            <a:r>
              <a:rPr lang="zh-CN" altLang="en-US" dirty="0"/>
              <a:t>架构具备通用性，所以开发成本较低。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因为不需要安装客户端，所以客户端不需要进行升级，只需要更新后台代码即可实现所有客户端的更新。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因为</a:t>
            </a:r>
            <a:r>
              <a:rPr lang="en-US" altLang="zh-CN" dirty="0"/>
              <a:t>B/S</a:t>
            </a:r>
            <a:r>
              <a:rPr lang="zh-CN" altLang="en-US" dirty="0"/>
              <a:t>架构多用</a:t>
            </a:r>
            <a:r>
              <a:rPr lang="en-US" altLang="zh-CN" dirty="0"/>
              <a:t>WEB</a:t>
            </a:r>
            <a:r>
              <a:rPr lang="zh-CN" altLang="en-US" dirty="0"/>
              <a:t>网页进行开发，所以增、删功能也非常容易，只需要修改网页即可完成</a:t>
            </a:r>
          </a:p>
          <a:p>
            <a:pPr marL="0" indent="0">
              <a:buNone/>
            </a:pPr>
            <a:r>
              <a:rPr lang="zh-CN" altLang="en-US" dirty="0"/>
              <a:t>*缺点：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耗流量，每次都要加载全部的内容（不过有缓存可以降低流量损耗）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因为没有独立的客户端，所以无法实现个性化（通过账号体系可以实现）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因为没有独立设计客户端，所以客户端难以实现安全控制（</a:t>
            </a:r>
            <a:r>
              <a:rPr lang="en-US" altLang="zh-CN" dirty="0"/>
              <a:t>HTTPS</a:t>
            </a:r>
            <a:r>
              <a:rPr lang="zh-CN" altLang="en-US" dirty="0"/>
              <a:t>、控件）。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难以实现特殊的操作（删本地文件），所以所有的杀毒软件都是</a:t>
            </a:r>
            <a:r>
              <a:rPr lang="en-US" altLang="zh-CN" dirty="0"/>
              <a:t>C/S</a:t>
            </a:r>
            <a:r>
              <a:rPr lang="zh-CN" altLang="en-US" dirty="0"/>
              <a:t>架构的。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0" y="6311900"/>
            <a:ext cx="5178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https://www.cnblogs.com/laoluoits/p/7265983.html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271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1.2</a:t>
            </a:r>
            <a:r>
              <a:rPr kumimoji="1" lang="zh-CN" altLang="en-US" dirty="0"/>
              <a:t> </a:t>
            </a:r>
            <a:r>
              <a:rPr kumimoji="1" lang="en-US" altLang="zh-CN" dirty="0"/>
              <a:t>C/S</a:t>
            </a:r>
            <a:r>
              <a:rPr kumimoji="1" lang="zh-CN" altLang="en-US" dirty="0"/>
              <a:t>结构特点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C/S</a:t>
            </a:r>
            <a:r>
              <a:rPr lang="zh-CN" altLang="en-US" b="1" dirty="0"/>
              <a:t>架构的优缺点：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*优点：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客户端因为是独立设计，所以可以实现个性化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因为客户端是需要进行安装的，可以不需要重复安装和加载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因为客户端是独立开发的，所以有能力对客户端进行安全设计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如果遇到不同的操作系统，需要为不同的操作系统各开发一套客户端</a:t>
            </a:r>
          </a:p>
          <a:p>
            <a:pPr marL="0" indent="0">
              <a:buNone/>
            </a:pPr>
            <a:r>
              <a:rPr lang="zh-CN" altLang="en-US" dirty="0"/>
              <a:t>*缺点：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因为客户端是不需要重复安装，所以用户可以不更新与升级，增加了维护成本。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因为需要开发客户端和服务器两套程序，所以开发成本会增加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6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1.3</a:t>
            </a:r>
            <a:r>
              <a:rPr kumimoji="1" lang="zh-CN" altLang="en-US" dirty="0"/>
              <a:t> 结论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B/S</a:t>
            </a:r>
            <a:r>
              <a:rPr lang="zh-CN" altLang="en-US" dirty="0"/>
              <a:t>软件在安全性、系统扩展、用户习惯、后续投资等方面都有优势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72" y="2445544"/>
            <a:ext cx="5208380" cy="3111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352" y="3200399"/>
            <a:ext cx="2689989" cy="201907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38200" y="6176963"/>
            <a:ext cx="5569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4"/>
              </a:rPr>
              <a:t>https://www.cnblogs.com/engeng/articles/5976292.html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45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/>
              <a:t> 数据分析与可视化系统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前端</a:t>
            </a:r>
          </a:p>
          <a:p>
            <a:pPr lvl="1"/>
            <a:r>
              <a:rPr kumimoji="1" lang="zh-CN" altLang="en-US" dirty="0"/>
              <a:t>浏览器</a:t>
            </a:r>
          </a:p>
          <a:p>
            <a:r>
              <a:rPr kumimoji="1" lang="zh-CN" altLang="en-US" dirty="0"/>
              <a:t>后端</a:t>
            </a:r>
          </a:p>
          <a:p>
            <a:pPr lvl="1"/>
            <a:r>
              <a:rPr kumimoji="1" lang="zh-CN" altLang="en-US" dirty="0"/>
              <a:t>服务器</a:t>
            </a:r>
          </a:p>
          <a:p>
            <a:pPr lvl="1"/>
            <a:endParaRPr kumimoji="1" lang="zh-CN" altLang="en-US" dirty="0"/>
          </a:p>
          <a:p>
            <a:r>
              <a:rPr kumimoji="1" lang="zh-CN" altLang="en-US" dirty="0"/>
              <a:t>资料阅读</a:t>
            </a:r>
          </a:p>
        </p:txBody>
      </p:sp>
      <p:sp>
        <p:nvSpPr>
          <p:cNvPr id="4" name="矩形 3"/>
          <p:cNvSpPr/>
          <p:nvPr/>
        </p:nvSpPr>
        <p:spPr>
          <a:xfrm>
            <a:off x="1050472" y="4874985"/>
            <a:ext cx="5657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https://blog.csdn.net/Oriental_/article/details/104753399</a:t>
            </a:r>
            <a:r>
              <a:rPr lang="zh-CN" altLang="en-US" dirty="0"/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1033238" y="4555382"/>
            <a:ext cx="5275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3"/>
              </a:rPr>
              <a:t>https://www.cnblogs.com/xixinhua/p/10265426.html</a:t>
            </a:r>
            <a:r>
              <a:rPr lang="zh-CN" altLang="en-US" dirty="0"/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171" y="1375462"/>
            <a:ext cx="5373899" cy="53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2.1</a:t>
            </a:r>
            <a:r>
              <a:rPr kumimoji="1" lang="zh-CN" altLang="en-US" dirty="0"/>
              <a:t> 前端</a:t>
            </a:r>
            <a:r>
              <a:rPr kumimoji="1" lang="en-US" altLang="zh-CN" dirty="0" err="1"/>
              <a:t>Javascript+HTML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混合式开发</a:t>
            </a:r>
          </a:p>
          <a:p>
            <a:pPr lvl="1"/>
            <a:r>
              <a:rPr kumimoji="1" lang="zh-CN" altLang="en-US" dirty="0"/>
              <a:t>直接编写</a:t>
            </a:r>
            <a:r>
              <a:rPr kumimoji="1" lang="en-US" altLang="zh-CN" dirty="0"/>
              <a:t>HTML</a:t>
            </a:r>
            <a:endParaRPr kumimoji="1" lang="zh-CN" altLang="en-US" dirty="0"/>
          </a:p>
          <a:p>
            <a:r>
              <a:rPr kumimoji="1" lang="zh-CN" altLang="en-US" dirty="0"/>
              <a:t>前后端分离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分别开发，接口通信</a:t>
            </a:r>
            <a:endParaRPr kumimoji="1" lang="en-US" altLang="zh-CN" dirty="0"/>
          </a:p>
          <a:p>
            <a:r>
              <a:rPr kumimoji="1" lang="zh-CN" altLang="en-US" dirty="0"/>
              <a:t>框架的重要性</a:t>
            </a:r>
          </a:p>
          <a:p>
            <a:pPr lvl="1"/>
            <a:r>
              <a:rPr kumimoji="1" lang="en-US" altLang="zh-CN" dirty="0"/>
              <a:t>VUE</a:t>
            </a:r>
            <a:r>
              <a:rPr kumimoji="1" lang="zh-CN" altLang="en-US" dirty="0"/>
              <a:t>：</a:t>
            </a:r>
            <a:r>
              <a:rPr lang="zh-CN" altLang="en-US" dirty="0"/>
              <a:t>用于构建用户界面的</a:t>
            </a:r>
            <a:r>
              <a:rPr lang="zh-CN" altLang="en-US" b="1" dirty="0"/>
              <a:t>渐进式框架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Ant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Design</a:t>
            </a:r>
            <a:r>
              <a:rPr kumimoji="1" lang="zh-CN" altLang="en-US" dirty="0"/>
              <a:t>：可视化组件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6127234"/>
            <a:ext cx="3875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https://ant.design/docs/spec/visual-cn</a:t>
            </a:r>
            <a:r>
              <a:rPr lang="zh-CN" altLang="en-US" dirty="0"/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838200" y="5530632"/>
            <a:ext cx="48834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3"/>
              </a:rPr>
              <a:t>https://cn.vuejs.org/v2/guide/</a:t>
            </a:r>
            <a:r>
              <a:rPr lang="zh-CN" altLang="en-US" dirty="0"/>
              <a:t> </a:t>
            </a:r>
          </a:p>
          <a:p>
            <a:r>
              <a:rPr lang="en-US" altLang="zh-CN" dirty="0">
                <a:hlinkClick r:id="rId4"/>
              </a:rPr>
              <a:t>https://www.runoob.com/vue2/vue-tutorial.html</a:t>
            </a:r>
            <a:r>
              <a:rPr lang="zh-CN" altLang="en-US" dirty="0"/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243" y="1288832"/>
            <a:ext cx="37592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1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2.1.2</a:t>
            </a:r>
            <a:r>
              <a:rPr kumimoji="1" lang="zh-CN" altLang="en-US" dirty="0"/>
              <a:t> </a:t>
            </a:r>
            <a:r>
              <a:rPr kumimoji="1" lang="en-US" altLang="zh-CN" dirty="0"/>
              <a:t>VUE</a:t>
            </a:r>
            <a:r>
              <a:rPr kumimoji="1" lang="zh-CN" altLang="en-US" dirty="0"/>
              <a:t>项目的基本结构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index.html</a:t>
            </a:r>
            <a:r>
              <a:rPr lang="zh-CN" altLang="en-US" dirty="0"/>
              <a:t>：主页</a:t>
            </a:r>
          </a:p>
          <a:p>
            <a:r>
              <a:rPr lang="en-US" altLang="zh-CN" dirty="0" err="1"/>
              <a:t>APP.vue</a:t>
            </a:r>
            <a:r>
              <a:rPr lang="zh-CN" altLang="en-US" dirty="0"/>
              <a:t>：项目入口文件，</a:t>
            </a:r>
            <a:r>
              <a:rPr lang="en-US" altLang="zh-CN" dirty="0"/>
              <a:t>VUE</a:t>
            </a:r>
            <a:r>
              <a:rPr lang="zh-CN" altLang="en-US" dirty="0"/>
              <a:t>组件</a:t>
            </a:r>
          </a:p>
          <a:p>
            <a:r>
              <a:rPr lang="en-US" altLang="zh-CN" dirty="0" err="1"/>
              <a:t>main.js</a:t>
            </a:r>
            <a:r>
              <a:rPr lang="zh-CN" altLang="en-US" dirty="0"/>
              <a:t>：项目的核心文件</a:t>
            </a:r>
          </a:p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0" y="6311900"/>
            <a:ext cx="5906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https://www.runoob.com/vue2/vue-directory-structure.html</a:t>
            </a:r>
            <a:r>
              <a:rPr lang="zh-CN" altLang="en-US" dirty="0"/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860" y="0"/>
            <a:ext cx="296062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200" y="5963483"/>
            <a:ext cx="5334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4"/>
              </a:rPr>
              <a:t>https://www.cnblogs.com/beyrl-blog/p/8625145.html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070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2.2</a:t>
            </a:r>
            <a:r>
              <a:rPr kumimoji="1" lang="zh-CN" altLang="en-US" dirty="0"/>
              <a:t> 后端</a:t>
            </a:r>
            <a:r>
              <a:rPr kumimoji="1" lang="en-US" altLang="zh-CN" dirty="0" err="1"/>
              <a:t>Java+MySql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传统数据服务</a:t>
            </a:r>
          </a:p>
          <a:p>
            <a:pPr lvl="1"/>
            <a:r>
              <a:rPr kumimoji="1" lang="en-US" altLang="zh-CN" dirty="0" err="1"/>
              <a:t>Java+MySql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springboot</a:t>
            </a:r>
            <a:r>
              <a:rPr kumimoji="1" lang="zh-CN" altLang="en-US" dirty="0"/>
              <a:t>框架</a:t>
            </a:r>
          </a:p>
          <a:p>
            <a:r>
              <a:rPr kumimoji="1" lang="zh-CN" altLang="en-US" dirty="0"/>
              <a:t>大数据环境</a:t>
            </a:r>
          </a:p>
          <a:p>
            <a:pPr lvl="1"/>
            <a:r>
              <a:rPr kumimoji="1" lang="en-US" altLang="zh-CN" dirty="0"/>
              <a:t>Hadoop</a:t>
            </a:r>
            <a:r>
              <a:rPr kumimoji="1" lang="zh-CN" altLang="en-US" dirty="0"/>
              <a:t>生态</a:t>
            </a:r>
          </a:p>
          <a:p>
            <a:pPr lvl="2"/>
            <a:r>
              <a:rPr kumimoji="1" lang="en-US" altLang="zh-CN" dirty="0"/>
              <a:t>HBASE</a:t>
            </a:r>
            <a:endParaRPr kumimoji="1" lang="zh-CN" altLang="en-US" dirty="0"/>
          </a:p>
          <a:p>
            <a:pPr lvl="2"/>
            <a:r>
              <a:rPr kumimoji="1" lang="en-US" altLang="zh-CN" dirty="0" err="1"/>
              <a:t>Redis</a:t>
            </a:r>
            <a:endParaRPr kumimoji="1" lang="zh-CN" altLang="en-US" dirty="0"/>
          </a:p>
          <a:p>
            <a:pPr lvl="2"/>
            <a:r>
              <a:rPr kumimoji="1" lang="en-US" altLang="zh-CN" dirty="0"/>
              <a:t>Mahout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873" y="3592284"/>
            <a:ext cx="4276531" cy="3053443"/>
          </a:xfrm>
          <a:prstGeom prst="rect">
            <a:avLst/>
          </a:prstGeom>
        </p:spPr>
      </p:pic>
      <p:pic>
        <p:nvPicPr>
          <p:cNvPr id="1026" name="Picture 2" descr="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81" y="1557790"/>
            <a:ext cx="6721119" cy="223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74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2.3</a:t>
            </a:r>
            <a:r>
              <a:rPr kumimoji="1" lang="zh-CN" altLang="en-US" dirty="0"/>
              <a:t> 最终效果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29" y="1359097"/>
            <a:ext cx="9658942" cy="549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0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 任务分配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4~5</a:t>
            </a:r>
            <a:r>
              <a:rPr kumimoji="1" lang="zh-CN" altLang="en-US"/>
              <a:t>人</a:t>
            </a:r>
            <a:r>
              <a:rPr kumimoji="1" lang="zh-CN" altLang="en-US" dirty="0"/>
              <a:t>一组；</a:t>
            </a:r>
          </a:p>
          <a:p>
            <a:r>
              <a:rPr kumimoji="1" lang="zh-CN" altLang="en-US" dirty="0"/>
              <a:t>组内分工：前端开发，后端开发；开发进度安排；</a:t>
            </a:r>
          </a:p>
          <a:p>
            <a:r>
              <a:rPr kumimoji="1" lang="zh-CN" altLang="en-US" dirty="0"/>
              <a:t>定期汇报进展；（环境布置、工具介绍、开发案例分析、问题交流）</a:t>
            </a:r>
          </a:p>
          <a:p>
            <a:r>
              <a:rPr kumimoji="1" lang="zh-CN" altLang="en-US" dirty="0"/>
              <a:t>最终答辩；</a:t>
            </a:r>
          </a:p>
        </p:txBody>
      </p:sp>
    </p:spTree>
    <p:extLst>
      <p:ext uri="{BB962C8B-B14F-4D97-AF65-F5344CB8AC3E}">
        <p14:creationId xmlns:p14="http://schemas.microsoft.com/office/powerpoint/2010/main" val="34603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 进度安排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周：</a:t>
            </a:r>
          </a:p>
          <a:p>
            <a:r>
              <a:rPr kumimoji="1" lang="zh-CN" altLang="en-US" dirty="0"/>
              <a:t>周一</a:t>
            </a:r>
            <a:r>
              <a:rPr kumimoji="1" lang="en-US" altLang="zh-CN" dirty="0"/>
              <a:t>~</a:t>
            </a:r>
            <a:r>
              <a:rPr kumimoji="1" lang="zh-CN" altLang="en-US" dirty="0"/>
              <a:t>周三：开发环境搭建，开发工具熟悉</a:t>
            </a:r>
          </a:p>
          <a:p>
            <a:r>
              <a:rPr kumimoji="1" lang="zh-CN" altLang="en-US" dirty="0"/>
              <a:t>周四：前后端环境功能调试（可视化界面设计、数据库和业务逻辑实现）</a:t>
            </a:r>
          </a:p>
          <a:p>
            <a:r>
              <a:rPr kumimoji="1" lang="zh-CN" altLang="en-US" dirty="0"/>
              <a:t>周四：第一个页面汇报，结果演示</a:t>
            </a:r>
          </a:p>
          <a:p>
            <a:r>
              <a:rPr kumimoji="1" lang="zh-CN" altLang="en-US" dirty="0"/>
              <a:t>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周：</a:t>
            </a:r>
          </a:p>
          <a:p>
            <a:r>
              <a:rPr kumimoji="1" lang="zh-CN" altLang="en-US" dirty="0"/>
              <a:t>周一：第二个页面汇报，结果演示</a:t>
            </a:r>
          </a:p>
          <a:p>
            <a:r>
              <a:rPr kumimoji="1" lang="zh-CN" altLang="en-US" dirty="0"/>
              <a:t>周二</a:t>
            </a:r>
            <a:r>
              <a:rPr kumimoji="1" lang="en-US" altLang="zh-CN" dirty="0"/>
              <a:t>~</a:t>
            </a:r>
            <a:r>
              <a:rPr kumimoji="1" lang="zh-CN" altLang="en-US" dirty="0"/>
              <a:t>周四：系统综合性测试</a:t>
            </a:r>
          </a:p>
          <a:p>
            <a:r>
              <a:rPr kumimoji="1" lang="zh-CN" altLang="en-US" dirty="0"/>
              <a:t>周五：答辩，整体开发过程回顾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5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前后端介绍：</a:t>
            </a:r>
          </a:p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www.cnblogs.com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xixinhua</a:t>
            </a:r>
            <a:r>
              <a:rPr kumimoji="1" lang="en-US" altLang="zh-CN" dirty="0"/>
              <a:t>/p/10265426.html </a:t>
            </a:r>
          </a:p>
          <a:p>
            <a:r>
              <a:rPr kumimoji="1" lang="en-US" altLang="zh-CN" dirty="0">
                <a:hlinkClick r:id="rId2"/>
              </a:rPr>
              <a:t>https://blog.csdn.net/Oriental_/article/details/104753399</a:t>
            </a:r>
            <a:endParaRPr kumimoji="1" lang="zh-CN" altLang="en-US" dirty="0"/>
          </a:p>
          <a:p>
            <a:r>
              <a:rPr kumimoji="1" lang="en-US" altLang="zh-CN" dirty="0"/>
              <a:t>Ant Design: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3"/>
              </a:rPr>
              <a:t>https://ant.design/docs/spec/visual-cn</a:t>
            </a:r>
            <a:r>
              <a:rPr kumimoji="1" lang="zh-CN" altLang="en-US" dirty="0"/>
              <a:t> </a:t>
            </a:r>
          </a:p>
          <a:p>
            <a:r>
              <a:rPr kumimoji="1" lang="en-US" altLang="zh-CN" dirty="0" err="1"/>
              <a:t>vue</a:t>
            </a:r>
            <a:r>
              <a:rPr kumimoji="1" lang="zh-CN" altLang="en-US" dirty="0"/>
              <a:t>：</a:t>
            </a:r>
            <a:r>
              <a:rPr kumimoji="1" lang="en-US" altLang="zh-CN" dirty="0">
                <a:hlinkClick r:id="rId4"/>
              </a:rPr>
              <a:t>https://cn.vuejs.org/v2/guide/</a:t>
            </a:r>
            <a:r>
              <a:rPr kumimoji="1" lang="zh-CN" altLang="en-US" dirty="0"/>
              <a:t> </a:t>
            </a:r>
            <a:r>
              <a:rPr kumimoji="1" lang="en-US" altLang="zh-CN" dirty="0"/>
              <a:t> 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>
                <a:hlinkClick r:id="rId5"/>
              </a:rPr>
              <a:t>https://www.runoob.com/vue2/vue-tutorial.html</a:t>
            </a:r>
            <a:r>
              <a:rPr kumimoji="1" lang="zh-CN" altLang="en-US" dirty="0"/>
              <a:t>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windows:</a:t>
            </a:r>
            <a:endParaRPr kumimoji="1" lang="zh-CN" altLang="en-US" dirty="0"/>
          </a:p>
          <a:p>
            <a:r>
              <a:rPr kumimoji="1" lang="en-US" altLang="zh-CN" dirty="0">
                <a:hlinkClick r:id="rId2"/>
              </a:rPr>
              <a:t>https://blog.csdn.net/mao834099514/article/details/79138484</a:t>
            </a:r>
            <a:endParaRPr kumimoji="1" lang="zh-CN" altLang="en-US" dirty="0"/>
          </a:p>
          <a:p>
            <a:r>
              <a:rPr kumimoji="1" lang="en-US" altLang="zh-CN" dirty="0"/>
              <a:t>mac: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3"/>
              </a:rPr>
              <a:t>https://www.cnblogs.com/cui-cui/p/11537772.html</a:t>
            </a:r>
            <a:r>
              <a:rPr kumimoji="1" lang="zh-CN" altLang="en-US" dirty="0"/>
              <a:t> </a:t>
            </a:r>
          </a:p>
          <a:p>
            <a:endParaRPr kumimoji="1" lang="zh-CN" altLang="en-US" dirty="0"/>
          </a:p>
          <a:p>
            <a:r>
              <a:rPr kumimoji="1" lang="en-US" altLang="zh-CN" dirty="0">
                <a:hlinkClick r:id="rId4"/>
              </a:rPr>
              <a:t>https</a:t>
            </a:r>
            <a:r>
              <a:rPr kumimoji="1" lang="en-US" altLang="zh-CN">
                <a:hlinkClick r:id="rId4"/>
              </a:rPr>
              <a:t>://www.runoob.com/vue2/vue-directory-structure.html</a:t>
            </a:r>
            <a:r>
              <a:rPr kumimoji="1" lang="zh-CN" altLang="en-US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239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 err="1"/>
              <a:t>Navicat</a:t>
            </a:r>
            <a:r>
              <a:rPr lang="en-US" altLang="zh-CN" sz="4800" dirty="0"/>
              <a:t>; </a:t>
            </a:r>
            <a:r>
              <a:rPr lang="en-US" altLang="zh-CN" sz="4800"/>
              <a:t>sequel pro</a:t>
            </a:r>
          </a:p>
          <a:p>
            <a:r>
              <a:rPr lang="en-US" altLang="zh-CN" sz="4800"/>
              <a:t> 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013407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页面要求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关联规则：载入数据按钮，表格展示；分析数据按钮，提供支持度、置信度参数设置框，热力图展示</a:t>
            </a:r>
          </a:p>
          <a:p>
            <a:r>
              <a:rPr kumimoji="1" lang="zh-CN" altLang="en-US" dirty="0"/>
              <a:t>聚类分析：载入数据按钮，表格展示，散点图展示；聚类分析按钮，提供</a:t>
            </a:r>
            <a:r>
              <a:rPr kumimoji="1" lang="en-US" altLang="zh-CN" dirty="0"/>
              <a:t>k</a:t>
            </a:r>
            <a:r>
              <a:rPr kumimoji="1" lang="zh-CN" altLang="en-US" dirty="0"/>
              <a:t>的设置框，散点图展示</a:t>
            </a:r>
          </a:p>
          <a:p>
            <a:r>
              <a:rPr kumimoji="1" lang="zh-CN" altLang="en-US" dirty="0"/>
              <a:t>分类分析：载入数据按钮，表格展示；决策树分类按钮，提供树</a:t>
            </a:r>
            <a:r>
              <a:rPr kumimoji="1" lang="zh-CN" altLang="en-US"/>
              <a:t>的高度、叶子节点样本数参数设置，决策树</a:t>
            </a:r>
            <a:r>
              <a:rPr kumimoji="1" lang="zh-CN" altLang="en-US" dirty="0"/>
              <a:t>结果图片载入</a:t>
            </a:r>
          </a:p>
          <a:p>
            <a:r>
              <a:rPr kumimoji="1" lang="zh-CN" altLang="en-US" dirty="0"/>
              <a:t>回归分析：载入数据按钮，表格展示，散点图展示；回归按钮，回归散点图展示</a:t>
            </a:r>
          </a:p>
        </p:txBody>
      </p:sp>
    </p:spTree>
    <p:extLst>
      <p:ext uri="{BB962C8B-B14F-4D97-AF65-F5344CB8AC3E}">
        <p14:creationId xmlns:p14="http://schemas.microsoft.com/office/powerpoint/2010/main" val="993967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6600" dirty="0"/>
              <a:t>service </a:t>
            </a:r>
            <a:r>
              <a:rPr lang="en-US" altLang="zh-CN" sz="6600" dirty="0" err="1"/>
              <a:t>mysql</a:t>
            </a:r>
            <a:r>
              <a:rPr lang="en-US" altLang="zh-CN" sz="6600" dirty="0"/>
              <a:t> start</a:t>
            </a:r>
          </a:p>
          <a:p>
            <a:r>
              <a:rPr lang="en-US" altLang="zh-CN" sz="6600" dirty="0" err="1"/>
              <a:t>mysql</a:t>
            </a:r>
            <a:r>
              <a:rPr lang="en-US" altLang="zh-CN" sz="6600" dirty="0"/>
              <a:t> –u root –p</a:t>
            </a:r>
          </a:p>
          <a:p>
            <a:r>
              <a:rPr lang="en-US" altLang="zh-CN" sz="6600" dirty="0"/>
              <a:t>show databases;</a:t>
            </a:r>
          </a:p>
          <a:p>
            <a:r>
              <a:rPr lang="en-US" altLang="zh-CN" sz="6600" dirty="0"/>
              <a:t>use </a:t>
            </a:r>
            <a:r>
              <a:rPr lang="en-US" altLang="zh-CN" sz="6600" dirty="0" err="1"/>
              <a:t>bigData</a:t>
            </a:r>
            <a:r>
              <a:rPr lang="en-US" altLang="zh-CN" sz="6600" dirty="0"/>
              <a:t>;</a:t>
            </a:r>
          </a:p>
          <a:p>
            <a:r>
              <a:rPr lang="en-US" altLang="zh-CN" sz="6600" dirty="0"/>
              <a:t>Show tables;</a:t>
            </a:r>
            <a:endParaRPr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05641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散点图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https://blog.csdn.net/wei18791957243/article/details/118210584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245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第一次汇报要求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2175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前后端分离的概念，，前后端框架调研</a:t>
            </a:r>
            <a:endParaRPr lang="en-US" altLang="zh-CN" dirty="0"/>
          </a:p>
          <a:p>
            <a:r>
              <a:rPr lang="zh-CN" altLang="en-US" dirty="0"/>
              <a:t>前端框架</a:t>
            </a:r>
            <a:r>
              <a:rPr lang="en-US" altLang="zh-CN" dirty="0" err="1"/>
              <a:t>vue</a:t>
            </a:r>
            <a:r>
              <a:rPr lang="zh-CN" altLang="en-US" dirty="0"/>
              <a:t>、后端框架</a:t>
            </a:r>
            <a:r>
              <a:rPr lang="en-US" altLang="zh-CN" dirty="0"/>
              <a:t>Flask</a:t>
            </a:r>
            <a:r>
              <a:rPr lang="zh-CN" altLang="en-US" dirty="0"/>
              <a:t>基本原理和机制</a:t>
            </a:r>
            <a:endParaRPr lang="en-US" altLang="zh-CN" dirty="0"/>
          </a:p>
          <a:p>
            <a:r>
              <a:rPr lang="zh-CN" altLang="en-US" dirty="0"/>
              <a:t>前端：</a:t>
            </a:r>
            <a:endParaRPr lang="en-US" altLang="zh-CN" dirty="0"/>
          </a:p>
          <a:p>
            <a:pPr lvl="1"/>
            <a:r>
              <a:rPr lang="en-US" altLang="zh-CN" dirty="0" err="1"/>
              <a:t>Cli</a:t>
            </a:r>
            <a:r>
              <a:rPr lang="zh-CN" altLang="en-US" dirty="0"/>
              <a:t>框架的基本结构</a:t>
            </a:r>
            <a:endParaRPr lang="en-US" altLang="zh-CN" dirty="0"/>
          </a:p>
          <a:p>
            <a:pPr lvl="1"/>
            <a:r>
              <a:rPr lang="zh-CN" altLang="en-US" dirty="0"/>
              <a:t>事件响应机制</a:t>
            </a:r>
            <a:endParaRPr lang="en-US" altLang="zh-CN" dirty="0"/>
          </a:p>
          <a:p>
            <a:pPr lvl="1"/>
            <a:r>
              <a:rPr lang="en-US" altLang="zh-CN" dirty="0"/>
              <a:t>VUE</a:t>
            </a:r>
            <a:r>
              <a:rPr lang="zh-CN" altLang="en-US" dirty="0"/>
              <a:t>生命周期和主要控件属性（</a:t>
            </a:r>
            <a:r>
              <a:rPr lang="en-US" altLang="zh-CN" dirty="0"/>
              <a:t>v-bind</a:t>
            </a:r>
            <a:r>
              <a:rPr lang="zh-CN" altLang="en-US" dirty="0"/>
              <a:t>，</a:t>
            </a:r>
            <a:r>
              <a:rPr lang="en-US" altLang="zh-CN" dirty="0"/>
              <a:t>v-if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 err="1"/>
              <a:t>ElementUI</a:t>
            </a:r>
            <a:r>
              <a:rPr lang="zh-CN" altLang="en-US" dirty="0"/>
              <a:t>与</a:t>
            </a:r>
            <a:r>
              <a:rPr lang="en-US" altLang="zh-CN" dirty="0" err="1"/>
              <a:t>echarts</a:t>
            </a:r>
            <a:r>
              <a:rPr lang="zh-CN" altLang="en-US" dirty="0"/>
              <a:t>控件的作用</a:t>
            </a:r>
            <a:endParaRPr lang="en-US" altLang="zh-CN" dirty="0"/>
          </a:p>
          <a:p>
            <a:r>
              <a:rPr lang="zh-CN" altLang="en-US" dirty="0"/>
              <a:t>后端：</a:t>
            </a:r>
            <a:endParaRPr lang="en-US" altLang="zh-CN" dirty="0"/>
          </a:p>
          <a:p>
            <a:pPr lvl="1"/>
            <a:r>
              <a:rPr lang="en-US" altLang="zh-CN" dirty="0"/>
              <a:t>Flask</a:t>
            </a:r>
            <a:r>
              <a:rPr lang="zh-CN" altLang="en-US" dirty="0"/>
              <a:t>框架的基本结构</a:t>
            </a:r>
            <a:endParaRPr lang="en-US" altLang="zh-CN" dirty="0"/>
          </a:p>
          <a:p>
            <a:pPr lvl="1"/>
            <a:r>
              <a:rPr lang="zh-CN" altLang="en-US" dirty="0"/>
              <a:t>后端接口的原理</a:t>
            </a:r>
            <a:endParaRPr lang="en-US" altLang="zh-CN" dirty="0"/>
          </a:p>
          <a:p>
            <a:r>
              <a:rPr lang="zh-CN" altLang="en-US" dirty="0"/>
              <a:t>实例代码中的各主要文件解析</a:t>
            </a:r>
            <a:endParaRPr lang="en-US" altLang="zh-CN" dirty="0"/>
          </a:p>
          <a:p>
            <a:r>
              <a:rPr lang="zh-CN" altLang="en-US" dirty="0"/>
              <a:t>前后端调试的基本技术（浏览器的作用）</a:t>
            </a:r>
            <a:endParaRPr lang="en-US" altLang="zh-CN" dirty="0"/>
          </a:p>
          <a:p>
            <a:r>
              <a:rPr lang="zh-CN" altLang="en-US" dirty="0"/>
              <a:t>结果截图</a:t>
            </a:r>
          </a:p>
          <a:p>
            <a:r>
              <a:rPr lang="zh-CN" altLang="en-US" dirty="0"/>
              <a:t>至少完成</a:t>
            </a:r>
            <a:r>
              <a:rPr lang="en-US" altLang="zh-CN" dirty="0"/>
              <a:t>1</a:t>
            </a:r>
            <a:r>
              <a:rPr lang="zh-CN" altLang="en-US" dirty="0"/>
              <a:t>个页面</a:t>
            </a:r>
          </a:p>
        </p:txBody>
      </p:sp>
    </p:spTree>
    <p:extLst>
      <p:ext uri="{BB962C8B-B14F-4D97-AF65-F5344CB8AC3E}">
        <p14:creationId xmlns:p14="http://schemas.microsoft.com/office/powerpoint/2010/main" val="3971203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第二次汇报要求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2175"/>
          </a:xfrm>
        </p:spPr>
        <p:txBody>
          <a:bodyPr>
            <a:normAutofit/>
          </a:bodyPr>
          <a:lstStyle/>
          <a:p>
            <a:r>
              <a:rPr lang="zh-CN" altLang="en-US" dirty="0"/>
              <a:t>前端框架</a:t>
            </a:r>
            <a:r>
              <a:rPr lang="en-US" altLang="zh-CN" dirty="0" err="1"/>
              <a:t>vue</a:t>
            </a:r>
            <a:r>
              <a:rPr lang="zh-CN" altLang="en-US" dirty="0"/>
              <a:t>、后端框架</a:t>
            </a:r>
            <a:r>
              <a:rPr lang="en-US" altLang="zh-CN" dirty="0"/>
              <a:t>Flask</a:t>
            </a:r>
            <a:r>
              <a:rPr lang="zh-CN" altLang="en-US" dirty="0"/>
              <a:t>基本原理和机制</a:t>
            </a:r>
            <a:endParaRPr lang="en-US" altLang="zh-CN" dirty="0"/>
          </a:p>
          <a:p>
            <a:r>
              <a:rPr lang="zh-CN" altLang="en-US" dirty="0"/>
              <a:t>实例代码中的各主要文件解析</a:t>
            </a:r>
            <a:endParaRPr lang="en-US" altLang="zh-CN" dirty="0"/>
          </a:p>
          <a:p>
            <a:pPr lvl="1"/>
            <a:r>
              <a:rPr lang="zh-CN" altLang="en-US" dirty="0"/>
              <a:t>事件响应机制</a:t>
            </a:r>
            <a:endParaRPr lang="en-US" altLang="zh-CN" dirty="0"/>
          </a:p>
          <a:p>
            <a:pPr lvl="1"/>
            <a:r>
              <a:rPr lang="zh-CN" altLang="en-US" dirty="0"/>
              <a:t>接口通信</a:t>
            </a:r>
            <a:endParaRPr lang="en-US" altLang="zh-CN" dirty="0"/>
          </a:p>
          <a:p>
            <a:pPr lvl="1"/>
            <a:r>
              <a:rPr lang="zh-CN" altLang="en-US" dirty="0"/>
              <a:t>数据库的基本操作</a:t>
            </a:r>
            <a:endParaRPr lang="en-US" altLang="zh-CN" dirty="0"/>
          </a:p>
          <a:p>
            <a:r>
              <a:rPr lang="zh-CN" altLang="en-US" dirty="0"/>
              <a:t>前后端调试的基本技术（浏览器的作用）</a:t>
            </a:r>
            <a:endParaRPr lang="en-US" altLang="zh-CN" dirty="0"/>
          </a:p>
          <a:p>
            <a:r>
              <a:rPr lang="zh-CN" altLang="en-US" dirty="0"/>
              <a:t>结果截图</a:t>
            </a:r>
          </a:p>
          <a:p>
            <a:r>
              <a:rPr lang="zh-CN" altLang="en-US" dirty="0"/>
              <a:t>完成第</a:t>
            </a:r>
            <a:r>
              <a:rPr lang="en-US" altLang="zh-CN" dirty="0"/>
              <a:t>2</a:t>
            </a:r>
            <a:r>
              <a:rPr lang="zh-CN" altLang="en-US" dirty="0"/>
              <a:t>个页面</a:t>
            </a:r>
          </a:p>
        </p:txBody>
      </p:sp>
    </p:spTree>
    <p:extLst>
      <p:ext uri="{BB962C8B-B14F-4D97-AF65-F5344CB8AC3E}">
        <p14:creationId xmlns:p14="http://schemas.microsoft.com/office/powerpoint/2010/main" val="971451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第三次汇报（答辩）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四个数据分析功能介绍</a:t>
            </a:r>
            <a:endParaRPr lang="en-US" altLang="zh-CN" dirty="0"/>
          </a:p>
          <a:p>
            <a:r>
              <a:rPr lang="zh-CN" altLang="en-US" dirty="0"/>
              <a:t>前后端主要控件选择和功能设计</a:t>
            </a:r>
            <a:endParaRPr lang="en-US" altLang="zh-CN" dirty="0"/>
          </a:p>
          <a:p>
            <a:r>
              <a:rPr lang="zh-CN" altLang="en-US" dirty="0"/>
              <a:t>调试方法</a:t>
            </a:r>
            <a:endParaRPr lang="en-US" altLang="zh-CN" dirty="0"/>
          </a:p>
          <a:p>
            <a:r>
              <a:rPr lang="zh-CN" altLang="en-US" dirty="0"/>
              <a:t>结果截图</a:t>
            </a:r>
          </a:p>
          <a:p>
            <a:r>
              <a:rPr lang="zh-CN" altLang="en-US" dirty="0"/>
              <a:t>程序演示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140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1139</Words>
  <Application>Microsoft Macintosh PowerPoint</Application>
  <PresentationFormat>宽屏</PresentationFormat>
  <Paragraphs>138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主题</vt:lpstr>
      <vt:lpstr>数据挖掘与分析综合实验</vt:lpstr>
      <vt:lpstr>1. 数据分析的架构</vt:lpstr>
      <vt:lpstr>1.1 B/S结构特点</vt:lpstr>
      <vt:lpstr>1.2 C/S结构特点</vt:lpstr>
      <vt:lpstr>1.3 结论</vt:lpstr>
      <vt:lpstr>2 数据分析与可视化系统</vt:lpstr>
      <vt:lpstr>2.1 前端Javascript+HTML</vt:lpstr>
      <vt:lpstr>2.1.2 VUE项目的基本结构</vt:lpstr>
      <vt:lpstr>2.2 后端Java+MySql，Hadoop</vt:lpstr>
      <vt:lpstr>2.3 最终效果</vt:lpstr>
      <vt:lpstr>3 任务分配</vt:lpstr>
      <vt:lpstr>4 进度安排</vt:lpstr>
      <vt:lpstr>PowerPoint 演示文稿</vt:lpstr>
      <vt:lpstr>PowerPoint 演示文稿</vt:lpstr>
      <vt:lpstr>PowerPoint 演示文稿</vt:lpstr>
      <vt:lpstr>页面要求</vt:lpstr>
      <vt:lpstr>PowerPoint 演示文稿</vt:lpstr>
      <vt:lpstr>散点图</vt:lpstr>
      <vt:lpstr>第一次汇报要求</vt:lpstr>
      <vt:lpstr>第二次汇报要求</vt:lpstr>
      <vt:lpstr>第三次汇报（答辩）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大数据可视化综合实验</dc:title>
  <dc:creator>Microsoft Office 用户</dc:creator>
  <cp:lastModifiedBy>Microsoft Office User</cp:lastModifiedBy>
  <cp:revision>60</cp:revision>
  <dcterms:created xsi:type="dcterms:W3CDTF">2020-12-28T06:17:53Z</dcterms:created>
  <dcterms:modified xsi:type="dcterms:W3CDTF">2025-06-16T07:56:50Z</dcterms:modified>
</cp:coreProperties>
</file>